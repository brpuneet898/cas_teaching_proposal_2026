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Claims</c:v>
                </c:pt>
              </c:strCache>
            </c:strRef>
          </c:tx>
          <c:spPr>
            <a:solidFill>
              <a:srgbClr val="3268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Food Processing</c:v>
                  </c:pt>
                  <c:pt idx="1">
                    <c:v>Hospital</c:v>
                  </c:pt>
                  <c:pt idx="2">
                    <c:v>Manufacturing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28</c:v>
                </c:pt>
                <c:pt idx="2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Paid severity</c:v>
                </c:pt>
              </c:strCache>
            </c:strRef>
          </c:tx>
          <c:spPr>
            <a:solidFill>
              <a:srgbClr val="167C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Food Processing</c:v>
                  </c:pt>
                  <c:pt idx="1">
                    <c:v>Hospital</c:v>
                  </c:pt>
                  <c:pt idx="2">
                    <c:v>Manufacturing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18357</c:v>
                </c:pt>
                <c:pt idx="1">
                  <c:v>52270</c:v>
                </c:pt>
                <c:pt idx="2">
                  <c:v>37084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Paid loss</c:v>
                </c:pt>
              </c:strCache>
            </c:strRef>
          </c:tx>
          <c:spPr>
            <a:solidFill>
              <a:srgbClr val="167C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Below deductible</c:v>
                  </c:pt>
                  <c:pt idx="1">
                    <c:v>Limit constrained</c:v>
                  </c:pt>
                  <c:pt idx="2">
                    <c:v>BI wait not met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400000</c:v>
                </c:pt>
                <c:pt idx="2">
                  <c:v>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 ratio</c:v>
                </c:pt>
              </c:strCache>
            </c:strRef>
          </c:tx>
          <c:spPr>
            <a:solidFill>
              <a:srgbClr val="3268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Water treatment</c:v>
                  </c:pt>
                  <c:pt idx="1">
                    <c:v>Air filtration</c:v>
                  </c:pt>
                  <c:pt idx="2">
                    <c:v>BCP</c:v>
                  </c:pt>
                  <c:pt idx="3">
                    <c:v>Compound interaction</c:v>
                  </c:pt>
                  <c:pt idx="4">
                    <c:v>Turbidity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0.592</c:v>
                </c:pt>
                <c:pt idx="1">
                  <c:v>0.652</c:v>
                </c:pt>
                <c:pt idx="2">
                  <c:v>0.65</c:v>
                </c:pt>
                <c:pt idx="3">
                  <c:v>1.669</c:v>
                </c:pt>
                <c:pt idx="4">
                  <c:v>1.776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Millions</c:v>
                </c:pt>
              </c:strCache>
            </c:strRef>
          </c:tx>
          <c:spPr>
            <a:solidFill>
              <a:srgbClr val="167C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Expected loss</c:v>
                  </c:pt>
                  <c:pt idx="1">
                    <c:v>Indicated premium</c:v>
                  </c:pt>
                  <c:pt idx="2">
                    <c:v>Current premium</c:v>
                  </c:pt>
                  <c:pt idx="3">
                    <c:v>TVaR99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1.58</c:v>
                </c:pt>
                <c:pt idx="1">
                  <c:v>2.49</c:v>
                </c:pt>
                <c:pt idx="2">
                  <c:v>14.13</c:v>
                </c:pt>
                <c:pt idx="3">
                  <c:v>3.13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loss</c:v>
                </c:pt>
              </c:strCache>
            </c:strRef>
          </c:tx>
          <c:spPr>
            <a:solidFill>
              <a:srgbClr val="3268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Air</c:v>
                  </c:pt>
                  <c:pt idx="2">
                    <c:v>Water</c:v>
                  </c:pt>
                  <c:pt idx="3">
                    <c:v>Compound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1.58</c:v>
                </c:pt>
                <c:pt idx="1">
                  <c:v>2.8</c:v>
                </c:pt>
                <c:pt idx="2">
                  <c:v>11.23</c:v>
                </c:pt>
                <c:pt idx="3">
                  <c:v>19.74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TVaR99</c:v>
                </c:pt>
              </c:strCache>
            </c:strRef>
          </c:tx>
          <c:spPr>
            <a:solidFill>
              <a:srgbClr val="C75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Air</c:v>
                  </c:pt>
                  <c:pt idx="2">
                    <c:v>Water</c:v>
                  </c:pt>
                  <c:pt idx="3">
                    <c:v>Compound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3.13</c:v>
                </c:pt>
                <c:pt idx="1">
                  <c:v>5.02</c:v>
                </c:pt>
                <c:pt idx="2">
                  <c:v>15.68</c:v>
                </c:pt>
                <c:pt idx="3">
                  <c:v>25.99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Adequacy</c:v>
                </c:pt>
              </c:strCache>
            </c:strRef>
          </c:tx>
          <c:spPr>
            <a:solidFill>
              <a:srgbClr val="167C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Air</c:v>
                  </c:pt>
                  <c:pt idx="2">
                    <c:v>Water</c:v>
                  </c:pt>
                  <c:pt idx="3">
                    <c:v>Compound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5.68</c:v>
                </c:pt>
                <c:pt idx="1">
                  <c:v>3.35</c:v>
                </c:pt>
                <c:pt idx="2">
                  <c:v>0.87</c:v>
                </c:pt>
                <c:pt idx="3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TVaR99</c:v>
                </c:pt>
              </c:strCache>
            </c:strRef>
          </c:tx>
          <c:spPr>
            <a:solidFill>
              <a:srgbClr val="C75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 new</c:v>
                  </c:pt>
                  <c:pt idx="1">
                    <c:v>BCP</c:v>
                  </c:pt>
                  <c:pt idx="2">
                    <c:v>Air</c:v>
                  </c:pt>
                  <c:pt idx="3">
                    <c:v>Water</c:v>
                  </c:pt>
                  <c:pt idx="4">
                    <c:v>Largest red.</c:v>
                  </c:pt>
                  <c:pt idx="5">
                    <c:v>Balanced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25.99</c:v>
                </c:pt>
                <c:pt idx="1">
                  <c:v>22.31</c:v>
                </c:pt>
                <c:pt idx="2">
                  <c:v>21.51</c:v>
                </c:pt>
                <c:pt idx="3">
                  <c:v>20.56</c:v>
                </c:pt>
                <c:pt idx="4">
                  <c:v>18.32</c:v>
                </c:pt>
                <c:pt idx="5">
                  <c:v>18.17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43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F33"/>
                </a:solidFill>
              </a:rPr>
              <a:t>ClimateTwin V2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49808" y="1874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7C80"/>
                </a:solidFill>
              </a:rPr>
              <a:t>An Actuarial Digital Twin for Air–Water Climate Risk Management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86384" y="274320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670"/>
                </a:solidFill>
              </a:rPr>
              <a:t>AquaAir General Insurance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0"/>
                </a:solidFill>
              </a:rPr>
              <a:t>Commercial property + business interruption coverage under environmental stress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Observe → Model → Price → Stress → Mitigate → Reprice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committee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Make a defensible actuarial decision from evolving environmental conditions.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201400" cy="0"/>
          </a:xfrm>
          <a:prstGeom prst="line">
            <a:avLst/>
          </a:prstGeom>
          <a:noFill/>
          <a:ln w="889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550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Business question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50392" y="2011680"/>
            <a:ext cx="2962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Is AquaAir adequately priced for emerging air–water climate risk, and which actions should management fund now?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6550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Actuarial work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99432" y="2011680"/>
            <a:ext cx="2962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Build frequency and positive severity models, apply contract mechanics, convert results into premium adequacy, and simulate aggregate loss.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83880" y="150876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65506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Committee decision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48472" y="2011680"/>
            <a:ext cx="2962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Compare feasible mitigation candidates under an 8,000,000 budget using TVaR99 as the primary tail-risk criterion.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10241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Important V2 wording: the exercise selects the best strategy among candidate feasible portfolios evaluated. It does not claim a global optimum.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ClimateTwin V2 • AquaAir General Insurance 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V2 portfolio you inherit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Synthetic commercial policies with corrected claim-level contract mechanics.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201400" cy="0"/>
          </a:xfrm>
          <a:prstGeom prst="line">
            <a:avLst/>
          </a:prstGeom>
          <a:noFill/>
          <a:ln w="889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68D9"/>
                </a:solidFill>
              </a:rPr>
              <a:t>750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policy-year rows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0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7C80"/>
                </a:solidFill>
              </a:rPr>
              <a:t>250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0" y="1783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locations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</a:rPr>
              <a:t>95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0" y="1783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claim-level rows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0" y="1325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524B"/>
                </a:solidFill>
              </a:rPr>
              <a:t>33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766560" y="1783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zero-paid claims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32520" y="1325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14.13M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732520" y="1783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2026 current premium</a:t>
            </a:r>
            <a:endParaRPr lang="en-US" sz="10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22960" y="2423160"/>
          <a:ext cx="4800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6400800" y="2423160"/>
          <a:ext cx="4800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1371600" y="598932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Model on all years; simulate annual portfolio risk using the 2026 snapshot only.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ClimateTwin V2 • AquaAir General Insurance 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most important coverage lesson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Environmental stress is a warning signal — not an automatic insurance claim.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201400" cy="0"/>
          </a:xfrm>
          <a:prstGeom prst="line">
            <a:avLst/>
          </a:prstGeom>
          <a:noFill/>
          <a:ln w="889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121408"/>
            <a:ext cx="11521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Climate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condition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55648" y="2276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7C80"/>
                </a:solidFill>
              </a:rPr>
              <a:t>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94560" y="2121408"/>
            <a:ext cx="11521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Stress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flag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276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7C80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22192" y="2121408"/>
            <a:ext cx="11521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Insured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trigger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10912" y="2276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7C80"/>
                </a:solidFill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49824" y="2121408"/>
            <a:ext cx="11521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Claim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count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38544" y="2276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7C80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77456" y="2121408"/>
            <a:ext cx="11521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Covered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loss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66176" y="2276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7C80"/>
                </a:solidFill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05088" y="2121408"/>
            <a:ext cx="11521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Paid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loss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93808" y="2276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7C80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332720" y="2121408"/>
            <a:ext cx="11521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Pricing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decision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24B"/>
                </a:solidFill>
              </a:rPr>
              <a:t>V2 preserves 33 valid claims with zero paid loss after deductible / waiting-period / limit mechanics.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46177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670"/>
                </a:solidFill>
              </a:rPr>
              <a:t>Do not jump from pollution or contamination readings directly to paid loss.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ClimateTwin V2 • AquaAir General Insurance 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Contract mechanics in V2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Losses are generated at claim level, then aggregated to policy-location-year rows.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201400" cy="0"/>
          </a:xfrm>
          <a:prstGeom prst="line">
            <a:avLst/>
          </a:prstGeom>
          <a:noFill/>
          <a:ln w="889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6362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Ground-up loss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192024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Remediation cost plus total BI loss before policy waiting-period treatment.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17520" y="141732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156362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Covered loss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182112" y="192024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Remediation cost plus only BI days above the waiting period.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0" y="141732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156362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After deductible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468112" y="192024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max(covered loss − deductible, 0). The deductible is applied once per claim.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89520" y="141732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156362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Paid loss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54112" y="1920240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min(after deductible, policy limit). Payment can be zero for a valid covered claim.</a:t>
            </a:r>
            <a:endParaRPr lang="en-US" sz="11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1188720" y="3154680"/>
          <a:ext cx="9601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1554480" y="58064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Worked examples match the case document, solution notebook and generator.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ClimateTwin V2 • AquaAir General Insurance 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scenarios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Each stress transforms environmental variables, then flags are recomputed.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201400" cy="0"/>
          </a:xfrm>
          <a:prstGeom prst="line">
            <a:avLst/>
          </a:prstGeom>
          <a:noFill/>
          <a:ln w="889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63624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Baseline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192024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No air or water transformation. Recompute modelled risk and annual paid loss.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1563624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Air stress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593592" y="192024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PM2.5 +15; ozone +10. Water variables unchanged.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1563624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Water stress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91072" y="192024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Turbidity ×1.60; WQI −15. Air variables unchanged.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23960" y="14173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8552" y="1563624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Compound stress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988552" y="192024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Apply both air and water transformations with non-zero compound interaction.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4251960"/>
            <a:ext cx="103327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Limitation: air and water trigger draws are conditionally independent given model covariates; advanced dependence structures are optional extensions.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011680" y="53492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524B"/>
                </a:solidFill>
              </a:rPr>
              <a:t>Never force every stressed location to become a claim.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ClimateTwin V2 • AquaAir General Insurance 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actuarial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Students connect frequency, positive severity, expenses and capital-style tail metrics.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201400" cy="0"/>
          </a:xfrm>
          <a:prstGeom prst="line">
            <a:avLst/>
          </a:prstGeom>
          <a:noFill/>
          <a:ln w="889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550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Frequency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0116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Poisson GLM for claim_count with log(exposure_years) offset.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34640" y="15087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6550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Severity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999232" y="20116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Gamma/lognormal model on positive claim-level covered severity.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37760" y="15087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16550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Policy terms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102352" y="20116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Apply waiting period, deductible and per-claim limit to simulated covered losses.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40880" y="15087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5472" y="16550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Premium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205472" y="20116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Expected paid loss plus expense and profit/contingency provisions.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0" y="150876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08592" y="16550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Tail risk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08592" y="201168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Aggregate paid-loss simulation with VaR99 and TVaR99.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1097280" y="3291840"/>
          <a:ext cx="98755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ClimateTwin V2 • AquaAir General Insurance 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benchmark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Current portfolio snapshot: 2026 only.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201400" cy="0"/>
          </a:xfrm>
          <a:prstGeom prst="line">
            <a:avLst/>
          </a:prstGeom>
          <a:noFill/>
          <a:ln w="889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7C80"/>
                </a:solidFill>
              </a:rPr>
              <a:t>1.58M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Expected paid loss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4612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68D9"/>
                </a:solidFill>
              </a:rPr>
              <a:t>2.49M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4612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Indicated premium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</a:rPr>
              <a:t>14.13M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7784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Current premium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90956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7A4D"/>
                </a:solidFill>
              </a:rPr>
              <a:t>5.68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0956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Adequacy ratio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1463040" y="2514600"/>
          <a:ext cx="90525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1188720" y="5715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Baseline premium is adequate in V2; stress testing reveals the real issue.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ClimateTwin V2 • AquaAir General Insurance 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Stress testing changes the answer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Compound stress is the committee-level risk conversation.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201400" cy="0"/>
          </a:xfrm>
          <a:prstGeom prst="line">
            <a:avLst/>
          </a:prstGeom>
          <a:noFill/>
          <a:ln w="8890">
            <a:solidFill>
              <a:srgbClr val="D8DEE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77240" y="1508760"/>
          <a:ext cx="6903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8092440" y="1508760"/>
          <a:ext cx="3154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1371600" y="574243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Water stress and compound stress push adequacy below 1.00.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ClimateTwin V2 • AquaAir General Insurance 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Mitigation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Budget-constrained resilience, judged by tail-risk reduction.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201400" cy="0"/>
          </a:xfrm>
          <a:prstGeom prst="line">
            <a:avLst/>
          </a:prstGeom>
          <a:noFill/>
          <a:ln w="889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636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Budget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41832" y="192024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8,000,000 currency units. Actions must be feasible and selected only where absent.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26280" y="141732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5636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Candidate actions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90872" y="192024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Enhanced air filtration, enhanced water treatment, and business continuity plan.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75320" y="141732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15636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Decision criterion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39912" y="192024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Choose the evaluated candidate with the lowest simulated compound-stress TVaR99.</a:t>
            </a:r>
            <a:endParaRPr lang="en-US" sz="11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1188720" y="3337560"/>
          <a:ext cx="9875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ClimateTwin V2 • AquaAir General Insurance 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strong student teams should discover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The answer is a reasoned portfolio decision, not a single coefficient.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201400" cy="0"/>
          </a:xfrm>
          <a:prstGeom prst="line">
            <a:avLst/>
          </a:prstGeom>
          <a:noFill/>
          <a:ln w="889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7218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Baseline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41832" y="182880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Adequate under the fitted V2 reference model.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13258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147218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Stress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685032" y="182880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Compound stress creates the largest expected loss, VaR99 and TVaR99.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47218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Mitigation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28232" y="182880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Balanced BCR is lowest-TV​​aR among evaluated feasible candidates, with 7.82M TVaR reduction.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13258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147218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Action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171432" y="182880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Reprice stressed water/compound risk; fund mitigation; monitor; restrict selectively.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05840" y="3749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Recommended management message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160520"/>
            <a:ext cx="10241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7C80"/>
                </a:solidFill>
              </a:rPr>
              <a:t>Mitigation materially reduces tail risk but does not fully restore compound-stress adequacy. Pricing and underwriting action are still required.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ClimateTwin V2 • AquaAir General Insurance 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final committee recommendation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Quantify the risk. Explain the mechanism. Defend the action.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201400" cy="0"/>
          </a:xfrm>
          <a:prstGeom prst="line">
            <a:avLst/>
          </a:prstGeom>
          <a:noFill/>
          <a:ln w="889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Deliver five things: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</a:rPr>
              <a:t>1. Baseline position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</a:rPr>
              <a:t>2. Most material climate stress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</a:rPr>
              <a:t>3. Candidate mitigation decision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</a:rPr>
              <a:t>4. Pricing / underwriting action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3"/>
                </a:solidFill>
              </a:rPr>
              <a:t>5. Limitations and uncertainty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1417320"/>
            <a:ext cx="292608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7C80"/>
                </a:solidFill>
              </a:rPr>
              <a:t>Observe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67C80"/>
                </a:solidFill>
              </a:rPr>
              <a:t>Model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67C80"/>
                </a:solidFill>
              </a:rPr>
              <a:t>Price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67C80"/>
                </a:solidFill>
              </a:rPr>
              <a:t>Stress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67C80"/>
                </a:solidFill>
              </a:rPr>
              <a:t>Mitigate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67C80"/>
                </a:solidFill>
              </a:rPr>
              <a:t>Reprice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9728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The committee wants a defensible actuarial decision — not a perfect model.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ClimateTwin V2 • AquaAir General Insurance  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AquaAir General Insurance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ClimateTwin V2 Case Study</dc:title>
  <dc:subject>ClimateTwin V2 teaching case</dc:subject>
  <dc:creator>OpenAI</dc:creator>
  <cp:lastModifiedBy>OpenAI</cp:lastModifiedBy>
  <cp:revision>1</cp:revision>
  <dcterms:created xsi:type="dcterms:W3CDTF">2026-09-14T20:37:42Z</dcterms:created>
  <dcterms:modified xsi:type="dcterms:W3CDTF">2026-09-14T20:37:42Z</dcterms:modified>
</cp:coreProperties>
</file>