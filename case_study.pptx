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Claim count by occupancy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Claims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Food Processing</c:v>
                </c:pt>
                <c:pt idx="1">
                  <c:v>Hospital</c:v>
                </c:pt>
                <c:pt idx="2">
                  <c:v>Manufacturing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35</c:v>
                </c:pt>
                <c:pt idx="2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8F-44D7-87A8-60C79EE3AA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Paid severity by occupancy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severity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Food Processing</c:v>
                </c:pt>
                <c:pt idx="1">
                  <c:v>Hospital</c:v>
                </c:pt>
                <c:pt idx="2">
                  <c:v>Manufacturing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125232</c:v>
                </c:pt>
                <c:pt idx="1">
                  <c:v>243730</c:v>
                </c:pt>
                <c:pt idx="2">
                  <c:v>145123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46-4678-A247-DE54FB7F40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Baseline premium adequacy, millions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Current premium</c:v>
                </c:pt>
                <c:pt idx="1">
                  <c:v>Indicated premium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13.748900000000001</c:v>
                </c:pt>
                <c:pt idx="1">
                  <c:v>14.774800000000001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27-4535-A10C-90F1C8018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Scenario risk metrics, millions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loss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Air</c:v>
                </c:pt>
                <c:pt idx="2">
                  <c:v>Water</c:v>
                </c:pt>
                <c:pt idx="3">
                  <c:v>Compound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10.18</c:v>
                </c:pt>
                <c:pt idx="1">
                  <c:v>23.1</c:v>
                </c:pt>
                <c:pt idx="2">
                  <c:v>19.46</c:v>
                </c:pt>
                <c:pt idx="3">
                  <c:v>41.24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B6-4BAA-8A4A-84B5BEE3371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TVaR99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Air</c:v>
                </c:pt>
                <c:pt idx="2">
                  <c:v>Water</c:v>
                </c:pt>
                <c:pt idx="3">
                  <c:v>Compound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16.59</c:v>
                </c:pt>
                <c:pt idx="1">
                  <c:v>32.1</c:v>
                </c:pt>
                <c:pt idx="2">
                  <c:v>28.02</c:v>
                </c:pt>
                <c:pt idx="3">
                  <c:v>53.5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B6-4BAA-8A4A-84B5BEE337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36747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914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1F33"/>
                </a:solidFill>
              </a:rPr>
              <a:t>ClimateTwin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49808" y="164592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</a:rPr>
              <a:t>An Actuarial Digital Twin for Air–Water Climate Risk Management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903720" y="594360"/>
            <a:ext cx="3840480" cy="3840480"/>
          </a:xfrm>
          <a:prstGeom prst="arc">
            <a:avLst/>
          </a:prstGeom>
          <a:noFill/>
          <a:ln w="12700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0" y="1234440"/>
            <a:ext cx="2651760" cy="2651760"/>
          </a:xfrm>
          <a:prstGeom prst="arc">
            <a:avLst/>
          </a:prstGeom>
          <a:noFill/>
          <a:ln w="127000">
            <a:solidFill>
              <a:srgbClr val="0F766E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92440" y="1828800"/>
            <a:ext cx="1508760" cy="1508760"/>
          </a:xfrm>
          <a:prstGeom prst="arc">
            <a:avLst/>
          </a:prstGeom>
          <a:noFill/>
          <a:ln w="127000">
            <a:solidFill>
              <a:srgbClr val="D97706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80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</a:rPr>
              <a:t>AquaAir General Insurance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33558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827"/>
                </a:solidFill>
              </a:rPr>
              <a:t>Commercial property + business interruption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11827"/>
                </a:solidFill>
              </a:rPr>
              <a:t>coverage under environmental stress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892040"/>
            <a:ext cx="1188720" cy="347472"/>
          </a:xfrm>
          <a:prstGeom prst="roundRect">
            <a:avLst>
              <a:gd name="adj" fmla="val 2105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497433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Observe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148840" y="489204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21992" y="4974336"/>
            <a:ext cx="859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Model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37560" y="4892040"/>
            <a:ext cx="914400" cy="347472"/>
          </a:xfrm>
          <a:prstGeom prst="roundRect">
            <a:avLst>
              <a:gd name="adj" fmla="val 2105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10712" y="4974336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Price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43984" y="489204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7136" y="4974336"/>
            <a:ext cx="859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Stress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23560" y="4892040"/>
            <a:ext cx="1234440" cy="347472"/>
          </a:xfrm>
          <a:prstGeom prst="roundRect">
            <a:avLst>
              <a:gd name="adj" fmla="val 21053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4974336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Mitigate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040880" y="4892040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14032" y="4974336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Reprice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Today’s committee challenge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Make a defensible actuarial decision from evolving environmental conditions.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08760"/>
            <a:ext cx="73152" cy="397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6550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The business question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2011680"/>
            <a:ext cx="3108960" cy="3337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Is AquaAir adequately priced for emerging air–water climate risk, and which actions should management fund now?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4407408" y="150876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07408" y="1508760"/>
            <a:ext cx="73152" cy="39776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16550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The actuarial work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011680"/>
            <a:ext cx="3108960" cy="3337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Build frequency and severity models, convert them into indicated premium, then evaluate baseline and stressed aggregate loss.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508760"/>
            <a:ext cx="73152" cy="39776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6550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The committee decision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39328" y="2011680"/>
            <a:ext cx="3108960" cy="3337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Choose a mitigation portfolio under an 8,000,000 budget using TVaR99 as the primary tail-risk objective.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portfolio you inherit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Synthetic commercial policies with real actuarial mechanics.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731520" y="1463040"/>
          <a:ext cx="493776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400800" y="1463040"/>
          <a:ext cx="493776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1143000" y="5623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3"/>
                </a:solidFill>
              </a:rPr>
              <a:t>750 rows • 250 locations • 3 years • 138 claims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most important coverage lesson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Environmental stress is a warning signal — not an automatic insurance claim.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3059972"/>
            <a:ext cx="99669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7240" y="2423160"/>
            <a:ext cx="1298448" cy="12984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8277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Climate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condition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2651760" y="2423160"/>
            <a:ext cx="1298448" cy="12984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28277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Stress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flag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4526280" y="2423160"/>
            <a:ext cx="1298448" cy="1298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28277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Insured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trigger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400800" y="2423160"/>
            <a:ext cx="1298448" cy="1298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28277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Claim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count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275320" y="2423160"/>
            <a:ext cx="1298448" cy="129844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5048" y="28277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Paid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loss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10149840" y="2423160"/>
            <a:ext cx="1298448" cy="1298448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59568" y="28277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Pricing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decision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1325880" y="4892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91C1C"/>
                </a:solidFill>
              </a:rPr>
              <a:t>Do not jump from pollution or contamination readings directly to paid loss.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Coverage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Air, water and compound events are defined insured triggers.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08760"/>
            <a:ext cx="3383280" cy="38862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08760"/>
            <a:ext cx="73152" cy="3886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550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Air trigger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011680"/>
            <a:ext cx="3063240" cy="3246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Adverse air condition plus qualifying operational restriction, remediation, filtration response, extra expense or BI consequence.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4407408" y="1508760"/>
            <a:ext cx="3383280" cy="38862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07408" y="1508760"/>
            <a:ext cx="73152" cy="38862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16550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Water trigger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011680"/>
            <a:ext cx="3063240" cy="3246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Adverse water condition plus qualifying cleanup, treatment, repair, extra expense or BI consequence.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8092440" y="1508760"/>
            <a:ext cx="3383280" cy="38862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508760"/>
            <a:ext cx="73152" cy="3886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16550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Compound trigger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93608" y="2011680"/>
            <a:ext cx="3063240" cy="3246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Air and water insured triggers affect the same location-year; risk is not assumed to be additive.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Required scenarios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Each stress transforms environmental variables, then flags are recomputed.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2331720" cy="33832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45920"/>
            <a:ext cx="73152" cy="3383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7922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Baseline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2148840"/>
            <a:ext cx="201168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No air or water transformation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Re-estimate modelled risk, then simulate annual aggregate paid loss.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3657600" y="1645920"/>
            <a:ext cx="2331720" cy="33832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45920"/>
            <a:ext cx="73152" cy="3383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58768" y="17922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Air stress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58768" y="2148840"/>
            <a:ext cx="201168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PM2.5 +15; ozone +10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Re-estimate modelled risk, then simulate annual aggregate paid loss.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6492240" y="1645920"/>
            <a:ext cx="2331720" cy="33832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1645920"/>
            <a:ext cx="73152" cy="33832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3408" y="17922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Water stress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93408" y="2148840"/>
            <a:ext cx="201168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Turbidity ×1.60; WQI −15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Re-estimate modelled risk, then simulate annual aggregate paid loss.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9326880" y="1645920"/>
            <a:ext cx="2331720" cy="33832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26880" y="1645920"/>
            <a:ext cx="73152" cy="33832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8048" y="17922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Compound stress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528048" y="2148840"/>
            <a:ext cx="201168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Apply both air and water stress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Re-estimate modelled risk, then simulate annual aggregate paid loss.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097280" y="56235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91C1C"/>
                </a:solidFill>
              </a:rPr>
              <a:t>Never force every stressed location to become a claim.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actuarial engine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Students connect frequency, severity, expenses and capital-style tail metrics.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3063240"/>
            <a:ext cx="9052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1783080"/>
            <a:ext cx="182880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83080"/>
            <a:ext cx="73152" cy="2606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9293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Frequency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286000"/>
            <a:ext cx="1508760" cy="1965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Poisson GLM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claim_count + exposure offset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2944368" y="1783080"/>
            <a:ext cx="182880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4368" y="1783080"/>
            <a:ext cx="73152" cy="2606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45536" y="19293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Severity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45536" y="2286000"/>
            <a:ext cx="1508760" cy="1965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Gamma/lognormal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paid severity | claim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248656" y="1783080"/>
            <a:ext cx="182880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8656" y="1783080"/>
            <a:ext cx="73152" cy="260604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49824" y="19293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Expected loss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49824" y="2286000"/>
            <a:ext cx="1508760" cy="1965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Expected count ×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conditional severity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7552944" y="1783080"/>
            <a:ext cx="182880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52944" y="178308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54112" y="19293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Premium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54112" y="2286000"/>
            <a:ext cx="1508760" cy="1965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Expenses + profit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adequacy ratio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9857232" y="1783080"/>
            <a:ext cx="182880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57232" y="1783080"/>
            <a:ext cx="73152" cy="26060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19293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Tail risk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0" y="2286000"/>
            <a:ext cx="1508760" cy="1965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Aggregate simulation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VaR99 + TVaR99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Baseline benchmark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Current portfolio snapshot: 2026 only.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0020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00200"/>
            <a:ext cx="73152" cy="1463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74650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Expected loss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2103120"/>
            <a:ext cx="21488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10.18M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3520440" y="160020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600200"/>
            <a:ext cx="73152" cy="1463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21608" y="174650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Indicated premium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21608" y="2103120"/>
            <a:ext cx="21488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14.77M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6217920" y="160020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600200"/>
            <a:ext cx="73152" cy="1463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74650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Current premium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103120"/>
            <a:ext cx="21488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13.75M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8915400" y="160020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15400" y="1600200"/>
            <a:ext cx="73152" cy="14630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6568" y="174650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Adequacy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16568" y="2103120"/>
            <a:ext cx="21488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0.93</a:t>
            </a:r>
            <a:endParaRPr lang="en-US" sz="12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011680" y="3703320"/>
          <a:ext cx="80467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Text 19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Stress testing changes the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Expected loss and tail risk escalate sharply under compound stress.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777240" y="1463040"/>
          <a:ext cx="108813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1417320" y="5806440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91C1C"/>
                </a:solidFill>
              </a:rPr>
              <a:t>Compound stress is the committee-level risk conversation.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Mitigation challenge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Budget-constrained resilience, judged by tail-risk reduction.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37560" cy="420624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73152" cy="42062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09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Budget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1965960"/>
            <a:ext cx="301752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8,000,000 currency units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Actions must be feasible and selected only where absent.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4407408" y="1463040"/>
            <a:ext cx="3337560" cy="420624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07408" y="1463040"/>
            <a:ext cx="73152" cy="4206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1609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Candidate actions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1965960"/>
            <a:ext cx="301752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Enhanced air filtration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Enhanced water treatment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Business continuity plan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337560" cy="420624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463040"/>
            <a:ext cx="73152" cy="42062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1609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Decision criterion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93608" y="1965960"/>
            <a:ext cx="301752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Minimize simulated TVaR99 under compound stress.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BCR supports the decision; it does not replace tail-risk judgement.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strong student teams should discover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The answer is a reasoned portfolio decision, not a single coefficient.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417320"/>
            <a:ext cx="73152" cy="1600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156362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Baseline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1920240"/>
            <a:ext cx="44348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Slightly underpriced; adequacy around 0.93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0" y="141732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417320"/>
            <a:ext cx="73152" cy="1600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156362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Stress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01968" y="1920240"/>
            <a:ext cx="44348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Compound stress creates the largest loss and TVaR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914400" y="356616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66160"/>
            <a:ext cx="73152" cy="16002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71246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Mitigation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4069080"/>
            <a:ext cx="44348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 feasible mixed portfolio can reduce TVaR materially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6400800" y="356616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3566160"/>
            <a:ext cx="73152" cy="1600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01968" y="371246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01968" y="4069080"/>
            <a:ext cx="44348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Reprice + mitigate + monitor; restrict selectively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final committee recommendation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Quantify the risk. Explain the mechanism. Defend the action.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109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3"/>
                </a:solidFill>
              </a:rPr>
              <a:t>Deliver five things: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41605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391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1. Baseline position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60120" y="2578608"/>
            <a:ext cx="41605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69748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2. Most material climate stress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60120" y="3236976"/>
            <a:ext cx="41605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355848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3. Mitigation decision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3895344"/>
            <a:ext cx="41605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014216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4. Pricing / underwriting action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0120" y="4553712"/>
            <a:ext cx="41605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672584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5. Limitations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83680" y="1280160"/>
            <a:ext cx="3474720" cy="3474720"/>
          </a:xfrm>
          <a:prstGeom prst="arc">
            <a:avLst/>
          </a:prstGeom>
          <a:noFill/>
          <a:ln w="15240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78040" y="1865376"/>
            <a:ext cx="2286000" cy="2286000"/>
          </a:xfrm>
          <a:prstGeom prst="arc">
            <a:avLst/>
          </a:prstGeom>
          <a:noFill/>
          <a:ln w="152400">
            <a:solidFill>
              <a:srgbClr val="B91C1C">
                <a:alpha val="8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14884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F33"/>
                </a:solidFill>
              </a:rPr>
              <a:t>Observe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B1F33"/>
                </a:solidFill>
              </a:rPr>
              <a:t>Model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B1F33"/>
                </a:solidFill>
              </a:rPr>
              <a:t>Price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B1F33"/>
                </a:solidFill>
              </a:rPr>
              <a:t>Stress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B1F33"/>
                </a:solidFill>
              </a:rPr>
              <a:t>Mitigate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B1F33"/>
                </a:solidFill>
              </a:rPr>
              <a:t>Reprice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172200" y="521208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91C1C"/>
                </a:solidFill>
              </a:rPr>
              <a:t>The committee wants a defensible decision, not a perfect model.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ClimateTwin • AquaAir General Insurance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714</Words>
  <Application>Microsoft Office PowerPoint</Application>
  <PresentationFormat>Widescreen</PresentationFormat>
  <Paragraphs>173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AquaAir General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ClimateTwin Classroom Launch Deck</dc:title>
  <dc:subject>AquaAir climate risk case launch deck</dc:subject>
  <dc:creator>ClimateTwin Case Package</dc:creator>
  <cp:lastModifiedBy>Br. Puneet</cp:lastModifiedBy>
  <cp:revision>2</cp:revision>
  <dcterms:created xsi:type="dcterms:W3CDTF">2026-09-08T10:48:37Z</dcterms:created>
  <dcterms:modified xsi:type="dcterms:W3CDTF">2026-09-08T10:55:51Z</dcterms:modified>
</cp:coreProperties>
</file>